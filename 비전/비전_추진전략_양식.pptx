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44000" y="162000"/>
            <a:ext cx="7272000" cy="342000"/>
          </a:xfrm>
          <a:prstGeom prst="rect">
            <a:avLst/>
          </a:prstGeom>
          <a:solidFill>
            <a:srgbClr val="3C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Ⅲ. 비전 및 추진전략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216000" y="864000"/>
            <a:ext cx="792000" cy="756000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비전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1224000" y="864000"/>
            <a:ext cx="6192000" cy="756000"/>
          </a:xfrm>
          <a:prstGeom prst="rect">
            <a:avLst/>
          </a:prstGeom>
          <a:solidFill>
            <a:srgbClr val="FFFFFF"/>
          </a:solidFill>
          <a:ln w="28575">
            <a:solidFill>
              <a:srgbClr val="5B7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600" b="1">
                <a:solidFill>
                  <a:srgbClr val="4E8B2F"/>
                </a:solidFill>
                <a:latin typeface="맑은 고딕"/>
                <a:ea typeface="맑은 고딕"/>
              </a:rPr>
              <a:t>안전하게 </a:t>
            </a:r>
            <a:r>
              <a:rPr sz="1600" b="1">
                <a:solidFill>
                  <a:srgbClr val="202020"/>
                </a:solidFill>
                <a:latin typeface="맑은 고딕"/>
                <a:ea typeface="맑은 고딕"/>
              </a:rPr>
              <a:t>보호받고 </a:t>
            </a:r>
            <a:r>
              <a:rPr sz="1600" b="1">
                <a:solidFill>
                  <a:srgbClr val="1F6E8C"/>
                </a:solidFill>
                <a:latin typeface="맑은 고딕"/>
                <a:ea typeface="맑은 고딕"/>
              </a:rPr>
              <a:t>건강하게 </a:t>
            </a:r>
            <a:r>
              <a:rPr sz="1600" b="1">
                <a:solidFill>
                  <a:srgbClr val="1F6E8C"/>
                </a:solidFill>
                <a:latin typeface="맑은 고딕"/>
                <a:ea typeface="맑은 고딕"/>
              </a:rPr>
              <a:t>자립</a:t>
            </a:r>
            <a:r>
              <a:rPr sz="1600" b="1">
                <a:solidFill>
                  <a:srgbClr val="202020"/>
                </a:solidFill>
                <a:latin typeface="맑은 고딕"/>
                <a:ea typeface="맑은 고딕"/>
              </a:rPr>
              <a:t>하는 가정 밖 청소년</a:t>
            </a:r>
          </a:p>
        </p:txBody>
      </p:sp>
      <p:sp>
        <p:nvSpPr>
          <p:cNvPr id="5" name="Rectangle 4"/>
          <p:cNvSpPr/>
          <p:nvPr/>
        </p:nvSpPr>
        <p:spPr>
          <a:xfrm>
            <a:off x="216000" y="1835999"/>
            <a:ext cx="792000" cy="1548000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1224000" y="1835999"/>
            <a:ext cx="6192000" cy="1548000"/>
          </a:xfrm>
          <a:prstGeom prst="rect">
            <a:avLst/>
          </a:prstGeom>
          <a:solidFill>
            <a:srgbClr val="FFFFFF"/>
          </a:solidFill>
          <a:ln w="28575">
            <a:solidFill>
              <a:srgbClr val="5B7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202020"/>
                </a:solidFill>
                <a:latin typeface="맑은 고딕"/>
                <a:ea typeface="맑은 고딕"/>
              </a:rPr>
              <a:t>① 가정 밖 청소년의 청소년쉼터 이용률 향상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02020"/>
                </a:solidFill>
                <a:latin typeface="맑은 고딕"/>
                <a:ea typeface="맑은 고딕"/>
              </a:rPr>
              <a:t>5.5%('23)  →  10%('30)</a:t>
            </a:r>
          </a:p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202020"/>
                </a:solidFill>
                <a:latin typeface="맑은 고딕"/>
                <a:ea typeface="맑은 고딕"/>
              </a:rPr>
              <a:t>② 청소년쉼터 퇴소 청소년의 가정복귀 및 자립률 제고</a:t>
            </a:r>
          </a:p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202020"/>
                </a:solidFill>
                <a:latin typeface="맑은 고딕"/>
                <a:ea typeface="맑은 고딕"/>
              </a:rPr>
              <a:t>47.9%('22)  →  55%('30)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6000" y="5580000"/>
            <a:ext cx="792000" cy="1224000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추진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전략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및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과제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296000" y="3726000"/>
            <a:ext cx="6120000" cy="270000"/>
          </a:xfrm>
          <a:prstGeom prst="rightArrow">
            <a:avLst>
              <a:gd name="adj1" fmla="val 55000"/>
              <a:gd name="adj2" fmla="val 50000"/>
            </a:avLst>
          </a:prstGeom>
          <a:solidFill>
            <a:srgbClr val="2F5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55999" y="37008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C5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202020"/>
                </a:solidFill>
                <a:latin typeface="맑은 고딕"/>
                <a:ea typeface="맑은 고딕"/>
              </a:rPr>
              <a:t>입소 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0000" y="37008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C5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202020"/>
                </a:solidFill>
                <a:latin typeface="맑은 고딕"/>
                <a:ea typeface="맑은 고딕"/>
              </a:rPr>
              <a:t>입소 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3999" y="3700800"/>
            <a:ext cx="1152000" cy="324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3C5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202020"/>
                </a:solidFill>
                <a:latin typeface="맑은 고딕"/>
                <a:ea typeface="맑은 고딕"/>
              </a:rPr>
              <a:t>퇴소 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32000" y="4266000"/>
            <a:ext cx="1908000" cy="1116000"/>
          </a:xfrm>
          <a:prstGeom prst="roundRect">
            <a:avLst>
              <a:gd name="adj" fmla="val 18000"/>
            </a:avLst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입소 과정의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문턱 완화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000" y="4266000"/>
            <a:ext cx="1908000" cy="1116000"/>
          </a:xfrm>
          <a:prstGeom prst="roundRect">
            <a:avLst>
              <a:gd name="adj" fmla="val 18000"/>
            </a:avLst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쉼터 내부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생활환경 제고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6000" y="4266000"/>
            <a:ext cx="1908000" cy="1116000"/>
          </a:xfrm>
          <a:prstGeom prst="roundRect">
            <a:avLst>
              <a:gd name="adj" fmla="val 18000"/>
            </a:avLst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가정 및</a:t>
            </a:r>
          </a:p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사회복귀 지원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2000" y="5598000"/>
            <a:ext cx="1908000" cy="270000"/>
          </a:xfrm>
          <a:prstGeom prst="rect">
            <a:avLst/>
          </a:prstGeom>
          <a:solidFill>
            <a:srgbClr val="4E7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① 발굴 확대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2000" y="5868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지자체·학교와의 연계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'청소년1388'에 정보 일원화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2000" y="6750000"/>
            <a:ext cx="1908000" cy="270000"/>
          </a:xfrm>
          <a:prstGeom prst="rect">
            <a:avLst/>
          </a:prstGeom>
          <a:solidFill>
            <a:srgbClr val="4E7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② 접근성 제고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32000" y="7020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쉼터 확충 및 위치 개선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보호자연락·경찰 신고 규정 완화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000" y="5598000"/>
            <a:ext cx="1908000" cy="270000"/>
          </a:xfrm>
          <a:prstGeom prst="rect">
            <a:avLst/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① 시설·인력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000" y="5868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쉼터의 공간·기능 보완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종사자의 처우 개선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쉼터 특화 교육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000" y="6750000"/>
            <a:ext cx="1908000" cy="270000"/>
          </a:xfrm>
          <a:prstGeom prst="rect">
            <a:avLst/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② 프로그램 개선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000" y="7020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맞춤형 학습계획, 1:1 멘토링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진로 토크콘서트, 직무훈련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내·외부 의료 서비스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000" y="7902000"/>
            <a:ext cx="1908000" cy="270000"/>
          </a:xfrm>
          <a:prstGeom prst="rect">
            <a:avLst/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③ 관리감독 보완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000" y="8172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권리침해 소리함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생활규칙 컨설팅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청소년쉼터 시민 모니터링단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6000" y="5598000"/>
            <a:ext cx="1908000" cy="270000"/>
          </a:xfrm>
          <a:prstGeom prst="rect">
            <a:avLst/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① 원가정 복귀 지원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16000" y="5868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단계적 복귀 가이드라인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16000" y="6750000"/>
            <a:ext cx="1908000" cy="270000"/>
          </a:xfrm>
          <a:prstGeom prst="rect">
            <a:avLst/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② 자립 지원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6000" y="7020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자립주거시설 확충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자립정착금, 자립지원수당 수혜율 제고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16000" y="7902000"/>
            <a:ext cx="1908000" cy="270000"/>
          </a:xfrm>
          <a:prstGeom prst="rect">
            <a:avLst/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③ 연계 시스템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16000" y="8172000"/>
            <a:ext cx="1908000" cy="7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청소년안전망시스템의 '사후관리' 기능 확대</a:t>
            </a:r>
          </a:p>
          <a:p>
            <a:pPr algn="l">
              <a:lnSpc>
                <a:spcPct val="105000"/>
              </a:lnSpc>
            </a:pPr>
            <a:r>
              <a:rPr sz="950" b="0">
                <a:solidFill>
                  <a:srgbClr val="202020"/>
                </a:solidFill>
                <a:latin typeface="맑은 고딕"/>
                <a:ea typeface="맑은 고딕"/>
              </a:rPr>
              <a:t>- 자립성적표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6000" y="9144000"/>
            <a:ext cx="792000" cy="1296000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추진</a:t>
            </a:r>
          </a:p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체계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32000" y="9144000"/>
            <a:ext cx="1908000" cy="270000"/>
          </a:xfrm>
          <a:prstGeom prst="rect">
            <a:avLst/>
          </a:prstGeom>
          <a:solidFill>
            <a:srgbClr val="A7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2000" y="9414000"/>
            <a:ext cx="1908000" cy="1026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「가정 밖 청소년 지원에 관한 법률」 제정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「실종아동법」 일부개정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000" y="9144000"/>
            <a:ext cx="1908000" cy="270000"/>
          </a:xfrm>
          <a:prstGeom prst="rect">
            <a:avLst/>
          </a:prstGeom>
          <a:solidFill>
            <a:srgbClr val="A7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조직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000" y="9414000"/>
            <a:ext cx="1908000" cy="1026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(총괄) 여가부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(통합지원기관) 한국청소년상담복지개발원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(사업수행기관) 청소년쉼터, 학교, 직업훈련기관, 의료기관, 자립지원관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16000" y="9144000"/>
            <a:ext cx="1908000" cy="270000"/>
          </a:xfrm>
          <a:prstGeom prst="rect">
            <a:avLst/>
          </a:prstGeom>
          <a:solidFill>
            <a:srgbClr val="A7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예산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16000" y="9414000"/>
            <a:ext cx="1908000" cy="1026000"/>
          </a:xfrm>
          <a:prstGeom prst="rect">
            <a:avLst/>
          </a:prstGeom>
          <a:solidFill>
            <a:srgbClr val="FFFFF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청소년쉼터 공간더하기 사업: 5.24억 원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정신건강전문인력 쉼터배치사업: 6.34억 원</a:t>
            </a:r>
          </a:p>
          <a:p>
            <a:pPr algn="l">
              <a:lnSpc>
                <a:spcPct val="105000"/>
              </a:lnSpc>
            </a:pPr>
            <a:r>
              <a:rPr sz="900" b="0">
                <a:solidFill>
                  <a:srgbClr val="202020"/>
                </a:solidFill>
                <a:latin typeface="맑은 고딕"/>
                <a:ea typeface="맑은 고딕"/>
              </a:rPr>
              <a:t>- 코리빙하우스 입주 시범사업: 1.47억 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