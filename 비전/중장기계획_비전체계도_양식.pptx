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180000"/>
            <a:ext cx="612000" cy="360000"/>
          </a:xfrm>
          <a:prstGeom prst="rect">
            <a:avLst/>
          </a:prstGeom>
          <a:solidFill>
            <a:srgbClr val="3C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700" b="1">
                <a:solidFill>
                  <a:srgbClr val="FFFFFF"/>
                </a:solidFill>
                <a:latin typeface="맑은 고딕"/>
                <a:ea typeface="맑은 고딕"/>
              </a:rPr>
              <a:t>Ⅲ.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7999" y="180000"/>
            <a:ext cx="6516000" cy="360000"/>
          </a:xfrm>
          <a:prstGeom prst="rect">
            <a:avLst/>
          </a:prstGeom>
          <a:solidFill>
            <a:srgbClr val="DC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/>
            <a:r>
              <a:rPr sz="1500" b="1">
                <a:solidFill>
                  <a:srgbClr val="3C5A26"/>
                </a:solidFill>
                <a:latin typeface="맑은 고딕"/>
                <a:ea typeface="맑은 고딕"/>
              </a:rPr>
              <a:t>장애인체육 정책성과 및 제3차 중장기계획 평가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216000" y="666000"/>
            <a:ext cx="324000" cy="251999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666000"/>
            <a:ext cx="6803999" cy="251999"/>
          </a:xfrm>
          <a:prstGeom prst="rect">
            <a:avLst/>
          </a:prstGeom>
          <a:solidFill>
            <a:srgbClr val="EFF1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/>
            <a:r>
              <a:rPr sz="1200" b="1">
                <a:solidFill>
                  <a:srgbClr val="202020"/>
                </a:solidFill>
                <a:latin typeface="맑은 고딕"/>
                <a:ea typeface="맑은 고딕"/>
              </a:rPr>
              <a:t>제3차 장애인체육발전 중장기계획 비전체계도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000" y="1080000"/>
            <a:ext cx="1152000" cy="360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800" b="1">
                <a:solidFill>
                  <a:srgbClr val="4E8B2F"/>
                </a:solidFill>
                <a:latin typeface="맑은 고딕"/>
                <a:ea typeface="맑은 고딕"/>
              </a:rPr>
              <a:t>비전 </a:t>
            </a:r>
            <a:r>
              <a:rPr sz="1800" b="1">
                <a:solidFill>
                  <a:srgbClr val="4E8B2F"/>
                </a:solidFill>
                <a:latin typeface="맑은 고딕"/>
                <a:ea typeface="맑은 고딕"/>
              </a:rPr>
              <a:t>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080000"/>
            <a:ext cx="5940000" cy="360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800" b="1">
                <a:solidFill>
                  <a:srgbClr val="202020"/>
                </a:solidFill>
                <a:latin typeface="맑은 고딕"/>
                <a:ea typeface="맑은 고딕"/>
              </a:rPr>
              <a:t>함께하는 장애인체육, 모두가 행복한 사회 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2000" y="1565999"/>
            <a:ext cx="1440000" cy="21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100" b="1">
                <a:solidFill>
                  <a:srgbClr val="4E8B2F"/>
                </a:solidFill>
                <a:latin typeface="맑은 고딕"/>
                <a:ea typeface="맑은 고딕"/>
              </a:rPr>
              <a:t>정책지표 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6000" y="2232000"/>
            <a:ext cx="1224000" cy="1080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3C5A26"/>
                </a:solidFill>
                <a:latin typeface="맑은 고딕"/>
                <a:ea typeface="맑은 고딕"/>
              </a:rPr>
              <a:t>장애인이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C5A26"/>
                </a:solidFill>
                <a:latin typeface="맑은 고딕"/>
                <a:ea typeface="맑은 고딕"/>
              </a:rPr>
              <a:t>체육으로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3C5A26"/>
                </a:solidFill>
                <a:latin typeface="맑은 고딕"/>
                <a:ea typeface="맑은 고딕"/>
              </a:rPr>
              <a:t>행복한 나라</a:t>
            </a:r>
          </a:p>
        </p:txBody>
      </p:sp>
      <p:sp>
        <p:nvSpPr>
          <p:cNvPr id="10" name="Up Arrow 9"/>
          <p:cNvSpPr/>
          <p:nvPr/>
        </p:nvSpPr>
        <p:spPr>
          <a:xfrm>
            <a:off x="540000" y="3816000"/>
            <a:ext cx="396000" cy="684000"/>
          </a:xfrm>
          <a:prstGeom prst="upArrow">
            <a:avLst>
              <a:gd name="adj1" fmla="val 55000"/>
              <a:gd name="adj2" fmla="val 50000"/>
            </a:avLst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92000" y="1782000"/>
            <a:ext cx="1728000" cy="450000"/>
          </a:xfrm>
          <a:prstGeom prst="roundRect">
            <a:avLst>
              <a:gd name="adj" fmla="val 20000"/>
            </a:avLst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생활체육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참여율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4000" y="1782000"/>
            <a:ext cx="1728000" cy="450000"/>
          </a:xfrm>
          <a:prstGeom prst="roundRect">
            <a:avLst>
              <a:gd name="adj" fmla="val 20000"/>
            </a:avLst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체육센터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36000" y="1782000"/>
            <a:ext cx="1728000" cy="450000"/>
          </a:xfrm>
          <a:prstGeom prst="roundRect">
            <a:avLst>
              <a:gd name="adj" fmla="val 20000"/>
            </a:avLst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국제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경기력 수준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6000" y="2538000"/>
            <a:ext cx="360000" cy="251999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3C5A26"/>
                </a:solidFill>
                <a:latin typeface="맑은 고딕"/>
                <a:ea typeface="맑은 고딕"/>
              </a:rPr>
              <a:t>'30</a:t>
            </a:r>
          </a:p>
        </p:txBody>
      </p:sp>
      <p:sp>
        <p:nvSpPr>
          <p:cNvPr id="15" name="Isosceles Triangle 14"/>
          <p:cNvSpPr/>
          <p:nvPr/>
        </p:nvSpPr>
        <p:spPr>
          <a:xfrm rot="16200000">
            <a:off x="1530000" y="2581200"/>
            <a:ext cx="144000" cy="162000"/>
          </a:xfrm>
          <a:prstGeom prst="triangle">
            <a:avLst/>
          </a:prstGeom>
          <a:solidFill>
            <a:srgbClr val="3C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06000" y="3258000"/>
            <a:ext cx="360000" cy="251999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3C5A26"/>
                </a:solidFill>
                <a:latin typeface="맑은 고딕"/>
                <a:ea typeface="맑은 고딕"/>
              </a:rPr>
              <a:t>'22</a:t>
            </a:r>
          </a:p>
        </p:txBody>
      </p:sp>
      <p:sp>
        <p:nvSpPr>
          <p:cNvPr id="17" name="Isosceles Triangle 16"/>
          <p:cNvSpPr/>
          <p:nvPr/>
        </p:nvSpPr>
        <p:spPr>
          <a:xfrm rot="16200000">
            <a:off x="1530000" y="3301200"/>
            <a:ext cx="144000" cy="162000"/>
          </a:xfrm>
          <a:prstGeom prst="triangle">
            <a:avLst/>
          </a:prstGeom>
          <a:solidFill>
            <a:srgbClr val="3C5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06000" y="3978000"/>
            <a:ext cx="360000" cy="251999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200" b="1">
                <a:solidFill>
                  <a:srgbClr val="777777"/>
                </a:solidFill>
                <a:latin typeface="맑은 고딕"/>
                <a:ea typeface="맑은 고딕"/>
              </a:rPr>
              <a:t>'17</a:t>
            </a:r>
          </a:p>
        </p:txBody>
      </p:sp>
      <p:sp>
        <p:nvSpPr>
          <p:cNvPr id="19" name="Isosceles Triangle 18"/>
          <p:cNvSpPr/>
          <p:nvPr/>
        </p:nvSpPr>
        <p:spPr>
          <a:xfrm rot="16200000">
            <a:off x="1530000" y="4021200"/>
            <a:ext cx="144000" cy="162000"/>
          </a:xfrm>
          <a:prstGeom prst="triangle">
            <a:avLst/>
          </a:prstGeom>
          <a:solidFill>
            <a:srgbClr val="9A9A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92000" y="235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B7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맑은 고딕"/>
                <a:ea typeface="맑은 고딕"/>
              </a:rPr>
              <a:t>40%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</a:rPr>
              <a:t>주 1회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692000" y="307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5B7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202020"/>
                </a:solidFill>
                <a:latin typeface="맑은 고딕"/>
                <a:ea typeface="맑은 고딕"/>
              </a:rPr>
              <a:t>30%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</a:rPr>
              <a:t>주 2~3회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692000" y="379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EFF1E8"/>
          </a:solidFill>
          <a:ln w="190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500" b="1">
                <a:solidFill>
                  <a:srgbClr val="777777"/>
                </a:solidFill>
                <a:latin typeface="맑은 고딕"/>
                <a:ea typeface="맑은 고딕"/>
              </a:rPr>
              <a:t>20%</a:t>
            </a:r>
          </a:p>
          <a:p>
            <a:pPr algn="ctr">
              <a:lnSpc>
                <a:spcPct val="105000"/>
              </a:lnSpc>
            </a:pPr>
            <a:r>
              <a:rPr sz="950" b="0">
                <a:solidFill>
                  <a:srgbClr val="777777"/>
                </a:solidFill>
                <a:latin typeface="맑은 고딕"/>
                <a:ea typeface="맑은 고딕"/>
              </a:rPr>
              <a:t>주 2~3회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64000" y="235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어울림  30개소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반다비*  200개소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64000" y="307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563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어울림  15개소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반다비*  120개소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564000" y="379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EFF1E8"/>
          </a:solidFill>
          <a:ln w="190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1000" b="1">
                <a:solidFill>
                  <a:srgbClr val="777777"/>
                </a:solidFill>
                <a:latin typeface="맑은 고딕"/>
                <a:ea typeface="맑은 고딕"/>
              </a:rPr>
              <a:t>어울림 운영 2개소</a:t>
            </a:r>
          </a:p>
          <a:p>
            <a:pPr algn="ctr">
              <a:lnSpc>
                <a:spcPct val="105000"/>
              </a:lnSpc>
            </a:pPr>
            <a:r>
              <a:rPr sz="900" b="0">
                <a:solidFill>
                  <a:srgbClr val="777777"/>
                </a:solidFill>
                <a:latin typeface="맑은 고딕"/>
                <a:ea typeface="맑은 고딕"/>
              </a:rPr>
              <a:t>(선정 완료 15개소)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36000" y="235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4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648000" tIns="18000" bIns="18000"/>
          <a:lstStyle/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세계</a:t>
            </a:r>
          </a:p>
          <a:p>
            <a:pPr algn="ctr">
              <a:lnSpc>
                <a:spcPct val="105000"/>
              </a:lnSpc>
            </a:pPr>
            <a:r>
              <a:rPr sz="1100" b="1">
                <a:solidFill>
                  <a:srgbClr val="202020"/>
                </a:solidFill>
                <a:latin typeface="맑은 고딕"/>
                <a:ea typeface="맑은 고딕"/>
              </a:rPr>
              <a:t>아시아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36000" y="307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1E4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850" b="1">
                <a:solidFill>
                  <a:srgbClr val="202020"/>
                </a:solidFill>
                <a:latin typeface="맑은 고딕"/>
                <a:ea typeface="맑은 고딕"/>
              </a:rPr>
              <a:t>'24 파리 P  '22 베이징 WP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02020"/>
                </a:solidFill>
                <a:latin typeface="맑은 고딕"/>
                <a:ea typeface="맑은 고딕"/>
              </a:rPr>
              <a:t>'20 도쿄 P  — 10위권 진입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202020"/>
                </a:solidFill>
                <a:latin typeface="맑은 고딕"/>
                <a:ea typeface="맑은 고딕"/>
              </a:rPr>
              <a:t>'22 항저우 A  '18 자카르타 A — 3위권 진입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36000" y="3798000"/>
            <a:ext cx="1728000" cy="630000"/>
          </a:xfrm>
          <a:prstGeom prst="roundRect">
            <a:avLst>
              <a:gd name="adj" fmla="val 12000"/>
            </a:avLst>
          </a:prstGeom>
          <a:solidFill>
            <a:srgbClr val="EFF1E8"/>
          </a:solidFill>
          <a:ln w="1905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05000"/>
              </a:lnSpc>
            </a:pPr>
            <a:r>
              <a:rPr sz="850" b="0">
                <a:solidFill>
                  <a:srgbClr val="777777"/>
                </a:solidFill>
                <a:latin typeface="맑은 고딕"/>
                <a:ea typeface="맑은 고딕"/>
              </a:rPr>
              <a:t>'18 평창 WP 16위   '16 리우 P 20위</a:t>
            </a:r>
          </a:p>
          <a:p>
            <a:pPr algn="ctr">
              <a:lnSpc>
                <a:spcPct val="105000"/>
              </a:lnSpc>
            </a:pPr>
            <a:r>
              <a:rPr sz="850" b="0">
                <a:solidFill>
                  <a:srgbClr val="777777"/>
                </a:solidFill>
                <a:latin typeface="맑은 고딕"/>
                <a:ea typeface="맑은 고딕"/>
              </a:rPr>
              <a:t>'14 소치 WP -위   '14 인천 A 2위</a:t>
            </a:r>
          </a:p>
        </p:txBody>
      </p:sp>
      <p:sp>
        <p:nvSpPr>
          <p:cNvPr id="29" name="Oval 28"/>
          <p:cNvSpPr/>
          <p:nvPr/>
        </p:nvSpPr>
        <p:spPr>
          <a:xfrm>
            <a:off x="6588000" y="2394000"/>
            <a:ext cx="522000" cy="259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4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700" b="1">
                <a:solidFill>
                  <a:srgbClr val="1E4A5F"/>
                </a:solidFill>
                <a:latin typeface="맑은 고딕"/>
                <a:ea typeface="맑은 고딕"/>
              </a:rPr>
              <a:t>10위권 유지</a:t>
            </a:r>
          </a:p>
        </p:txBody>
      </p:sp>
      <p:sp>
        <p:nvSpPr>
          <p:cNvPr id="30" name="Oval 29"/>
          <p:cNvSpPr/>
          <p:nvPr/>
        </p:nvSpPr>
        <p:spPr>
          <a:xfrm>
            <a:off x="6588000" y="2689200"/>
            <a:ext cx="522000" cy="25920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4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700" b="1">
                <a:solidFill>
                  <a:srgbClr val="1E4A5F"/>
                </a:solidFill>
                <a:latin typeface="맑은 고딕"/>
                <a:ea typeface="맑은 고딕"/>
              </a:rPr>
              <a:t>3위권 유지</a:t>
            </a:r>
          </a:p>
        </p:txBody>
      </p:sp>
      <p:sp>
        <p:nvSpPr>
          <p:cNvPr id="31" name="Isosceles Triangle 30"/>
          <p:cNvSpPr/>
          <p:nvPr/>
        </p:nvSpPr>
        <p:spPr>
          <a:xfrm>
            <a:off x="2772000" y="4590000"/>
            <a:ext cx="2015999" cy="378000"/>
          </a:xfrm>
          <a:prstGeom prst="triangle">
            <a:avLst/>
          </a:prstGeom>
          <a:solidFill>
            <a:srgbClr val="A7B1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2000" y="5076000"/>
            <a:ext cx="1980000" cy="21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100" b="1">
                <a:solidFill>
                  <a:srgbClr val="4E8B2F"/>
                </a:solidFill>
                <a:latin typeface="맑은 고딕"/>
                <a:ea typeface="맑은 고딕"/>
              </a:rPr>
              <a:t>정책방향(부문) 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56000" y="5076000"/>
            <a:ext cx="1440000" cy="21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1100" b="1">
                <a:solidFill>
                  <a:srgbClr val="4E8B2F"/>
                </a:solidFill>
                <a:latin typeface="맑은 고딕"/>
                <a:ea typeface="맑은 고딕"/>
              </a:rPr>
              <a:t>정책목표 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999" y="5346000"/>
            <a:ext cx="432000" cy="846000"/>
          </a:xfrm>
          <a:prstGeom prst="rect">
            <a:avLst/>
          </a:prstGeom>
          <a:solidFill>
            <a:srgbClr val="DC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800" b="1">
                <a:solidFill>
                  <a:srgbClr val="3C5A26"/>
                </a:solidFill>
                <a:latin typeface="맑은 고딕"/>
                <a:ea typeface="맑은 고딕"/>
              </a:rPr>
              <a:t>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4000" y="5346000"/>
            <a:ext cx="2736000" cy="846000"/>
          </a:xfrm>
          <a:prstGeom prst="rect">
            <a:avLst/>
          </a:prstGeom>
          <a:solidFill>
            <a:srgbClr val="5B7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모두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가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누리는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 장애인체육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(수요 대응/인프라 조성)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91999" y="5346000"/>
            <a:ext cx="3816000" cy="84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1. 수요맞춤형 생활체육 지원 강화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2. 생활공간 중심 체육 참여환경 조성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1999" y="6353999"/>
            <a:ext cx="432000" cy="846000"/>
          </a:xfrm>
          <a:prstGeom prst="rect">
            <a:avLst/>
          </a:prstGeom>
          <a:solidFill>
            <a:srgbClr val="DC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800" b="1">
                <a:solidFill>
                  <a:srgbClr val="3C5A26"/>
                </a:solidFill>
                <a:latin typeface="맑은 고딕"/>
                <a:ea typeface="맑은 고딕"/>
              </a:rPr>
              <a:t>Ⅱ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4000" y="6353999"/>
            <a:ext cx="2736000" cy="846000"/>
          </a:xfrm>
          <a:prstGeom prst="rect">
            <a:avLst/>
          </a:prstGeom>
          <a:solidFill>
            <a:srgbClr val="2563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사회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와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공감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하는 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장애인체육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(인식 개선/공유 및 확산)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91999" y="6353999"/>
            <a:ext cx="3816000" cy="84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3. 장애인체육 인식 개선 및 사회적 가치 실현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4. 정보 공유 확대 및 지원 시스템 특성화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1999" y="7362000"/>
            <a:ext cx="432000" cy="846000"/>
          </a:xfrm>
          <a:prstGeom prst="rect">
            <a:avLst/>
          </a:prstGeom>
          <a:solidFill>
            <a:srgbClr val="DCE2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/>
            <a:r>
              <a:rPr sz="1800" b="1">
                <a:solidFill>
                  <a:srgbClr val="3C5A26"/>
                </a:solidFill>
                <a:latin typeface="맑은 고딕"/>
                <a:ea typeface="맑은 고딕"/>
              </a:rPr>
              <a:t>Ⅲ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4000" y="7362000"/>
            <a:ext cx="2736000" cy="846000"/>
          </a:xfrm>
          <a:prstGeom prst="rect">
            <a:avLst/>
          </a:prstGeom>
          <a:solidFill>
            <a:srgbClr val="1E4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세계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를 </a:t>
            </a: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선도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하는 </a:t>
            </a:r>
            <a:r>
              <a:rPr sz="1100" b="0">
                <a:solidFill>
                  <a:srgbClr val="FFFFFF"/>
                </a:solidFill>
                <a:latin typeface="맑은 고딕"/>
                <a:ea typeface="맑은 고딕"/>
              </a:rPr>
              <a:t>장애인체육</a:t>
            </a:r>
          </a:p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(발전 선도/역량 강화)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491999" y="7362000"/>
            <a:ext cx="3816000" cy="84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9A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000" rIns="54000" tIns="18000" bIns="18000"/>
          <a:lstStyle/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5. 미래형 장애인체육 지원 시스템 고도화</a:t>
            </a:r>
          </a:p>
          <a:p>
            <a:pPr algn="l">
              <a:lnSpc>
                <a:spcPct val="130000"/>
              </a:lnSpc>
            </a:pPr>
            <a:r>
              <a:rPr sz="1150" b="1">
                <a:solidFill>
                  <a:srgbClr val="202020"/>
                </a:solidFill>
                <a:latin typeface="맑은 고딕"/>
                <a:ea typeface="맑은 고딕"/>
              </a:rPr>
              <a:t>6. 장애인스포츠 외교 확산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999" y="8496000"/>
            <a:ext cx="7056000" cy="216000"/>
          </a:xfrm>
          <a:prstGeom prst="rect">
            <a:avLst/>
          </a:prstGeom>
          <a:noFill/>
        </p:spPr>
        <p:txBody>
          <a:bodyPr wrap="square" anchor="ctr" lIns="54000" rIns="54000" tIns="18000" bIns="18000">
            <a:spAutoFit/>
          </a:bodyPr>
          <a:lstStyle/>
          <a:p>
            <a:pPr algn="l"/>
            <a:r>
              <a:rPr sz="800" b="0">
                <a:solidFill>
                  <a:srgbClr val="777777"/>
                </a:solidFill>
                <a:latin typeface="맑은 고딕"/>
                <a:ea typeface="맑은 고딕"/>
              </a:rPr>
              <a:t>* 반다비 체육센터: 기존 광역단위 장애인 국민체육센터(어울림형)를 시군구 단위 생활밀착형 장애인체육센터로 지원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